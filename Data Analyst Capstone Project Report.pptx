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sldIdLst>
    <p:sldId id="256" r:id="rId5"/>
    <p:sldId id="257" r:id="rId6"/>
    <p:sldId id="258" r:id="rId7"/>
    <p:sldId id="259" r:id="rId8"/>
    <p:sldId id="260" r:id="rId9"/>
    <p:sldId id="274" r:id="rId10"/>
    <p:sldId id="275" r:id="rId11"/>
    <p:sldId id="262" r:id="rId12"/>
    <p:sldId id="263" r:id="rId13"/>
    <p:sldId id="264" r:id="rId14"/>
    <p:sldId id="265" r:id="rId15"/>
    <p:sldId id="267" r:id="rId16"/>
    <p:sldId id="268" r:id="rId17"/>
    <p:sldId id="269" r:id="rId18"/>
    <p:sldId id="270" r:id="rId19"/>
    <p:sldId id="271" r:id="rId20"/>
    <p:sldId id="272" r:id="rId21"/>
    <p:sldId id="273" r:id="rId22"/>
  </p:sldIdLst>
  <p:sldSz cx="12192000" cy="6858000"/>
  <p:notesSz cx="6858000" cy="1857375"/>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8" autoAdjust="0"/>
    <p:restoredTop sz="92202" autoAdjust="0"/>
  </p:normalViewPr>
  <p:slideViewPr>
    <p:cSldViewPr snapToGrid="0">
      <p:cViewPr varScale="1">
        <p:scale>
          <a:sx n="117" d="100"/>
          <a:sy n="117" d="100"/>
        </p:scale>
        <p:origin x="640" y="176"/>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  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Data Analyst Capstone Project Report</a:t>
            </a:r>
            <a:r>
              <a:rPr lang="en-US" b="0" dirty="0"/>
              <a:t> </a:t>
            </a:r>
            <a:endParaRPr lang="en-US" dirty="0"/>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Joe Ailabouni</a:t>
            </a:r>
          </a:p>
          <a:p>
            <a:pPr marL="0" indent="0">
              <a:buNone/>
            </a:pPr>
            <a:r>
              <a:rPr lang="en-US" dirty="0">
                <a:solidFill>
                  <a:schemeClr val="bg1">
                    <a:lumMod val="75000"/>
                  </a:schemeClr>
                </a:solidFill>
                <a:latin typeface="IBM Plex Mono Medium" panose="020B0609050203000203" pitchFamily="49" charset="0"/>
              </a:rPr>
              <a:t>05/16/2026</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Arial" panose="020B0604020202020204" pitchFamily="34" charset="0"/>
                <a:cs typeface="Arial" panose="020B0604020202020204" pitchFamily="34" charset="0"/>
              </a:rPr>
              <a:t>Executive Summary</a:t>
            </a:r>
          </a:p>
          <a:p>
            <a:r>
              <a:rPr lang="en-US" sz="2200" dirty="0">
                <a:latin typeface="Arial" panose="020B0604020202020204" pitchFamily="34" charset="0"/>
                <a:cs typeface="Arial" panose="020B0604020202020204" pitchFamily="34" charset="0"/>
              </a:rPr>
              <a:t>Introduction</a:t>
            </a:r>
          </a:p>
          <a:p>
            <a:r>
              <a:rPr lang="en-US" sz="2200" dirty="0">
                <a:latin typeface="Arial" panose="020B0604020202020204" pitchFamily="34" charset="0"/>
                <a:cs typeface="Arial" panose="020B0604020202020204" pitchFamily="34" charset="0"/>
              </a:rPr>
              <a:t>Methodology</a:t>
            </a:r>
          </a:p>
          <a:p>
            <a:r>
              <a:rPr lang="en-US" sz="2200" dirty="0">
                <a:latin typeface="Arial" panose="020B0604020202020204" pitchFamily="34" charset="0"/>
                <a:cs typeface="Arial" panose="020B0604020202020204" pitchFamily="34" charset="0"/>
              </a:rPr>
              <a:t>Results</a:t>
            </a:r>
          </a:p>
          <a:p>
            <a:pPr lvl="1"/>
            <a:r>
              <a:rPr lang="en-US" sz="1800" dirty="0">
                <a:latin typeface="Arial" panose="020B0604020202020204" pitchFamily="34" charset="0"/>
                <a:cs typeface="Arial" panose="020B0604020202020204" pitchFamily="34" charset="0"/>
              </a:rPr>
              <a:t>Visualization – Charts</a:t>
            </a:r>
          </a:p>
          <a:p>
            <a:pPr lvl="1"/>
            <a:r>
              <a:rPr lang="en-US" sz="1800" dirty="0">
                <a:latin typeface="Arial" panose="020B0604020202020204" pitchFamily="34" charset="0"/>
                <a:cs typeface="Arial" panose="020B0604020202020204" pitchFamily="34" charset="0"/>
              </a:rPr>
              <a:t>Dashboard</a:t>
            </a:r>
          </a:p>
          <a:p>
            <a:r>
              <a:rPr lang="en-US" sz="2200" dirty="0">
                <a:latin typeface="Arial" panose="020B0604020202020204" pitchFamily="34" charset="0"/>
                <a:cs typeface="Arial" panose="020B0604020202020204" pitchFamily="34" charset="0"/>
              </a:rPr>
              <a:t>Discussion</a:t>
            </a:r>
          </a:p>
          <a:p>
            <a:pPr lvl="1"/>
            <a:r>
              <a:rPr lang="en-US" sz="1800" dirty="0">
                <a:latin typeface="Arial" panose="020B0604020202020204" pitchFamily="34" charset="0"/>
                <a:cs typeface="Arial" panose="020B0604020202020204" pitchFamily="34" charset="0"/>
              </a:rPr>
              <a:t>Findings &amp; Implications</a:t>
            </a:r>
          </a:p>
          <a:p>
            <a:r>
              <a:rPr lang="en-US" sz="2200" dirty="0">
                <a:latin typeface="Arial" panose="020B0604020202020204" pitchFamily="34" charset="0"/>
                <a:cs typeface="Arial" panose="020B0604020202020204" pitchFamily="34" charset="0"/>
              </a:rPr>
              <a:t>Conclusion</a:t>
            </a:r>
          </a:p>
          <a:p>
            <a:r>
              <a:rPr lang="en-US" sz="2200" dirty="0">
                <a:latin typeface="Arial" panose="020B0604020202020204" pitchFamily="34" charset="0"/>
                <a:cs typeface="Arial" panose="020B0604020202020204" pitchFamily="34" charset="0"/>
              </a:rPr>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600" b="1" dirty="0"/>
              <a:t>This report analyzes the Stack Overflow Developer Survey to uncover technology trends, compensation patterns, and demographic insights across the global developer community.</a:t>
            </a:r>
          </a:p>
          <a:p>
            <a:r>
              <a:rPr lang="en-US" sz="1600" dirty="0"/>
              <a:t>JavaScript, Python, and HTML/CSS dominate as the most widely used programming languages; PostgreSQL and MySQL lead database usage.</a:t>
            </a:r>
          </a:p>
          <a:p>
            <a:r>
              <a:rPr lang="en-US" sz="1600" dirty="0"/>
              <a:t>Python and Rust show the strongest growth in desired technologies for next year, signaling a shift toward data science and systems programming.</a:t>
            </a:r>
          </a:p>
          <a:p>
            <a:pPr lvl="1"/>
            <a:r>
              <a:rPr lang="en-US" sz="1600" dirty="0"/>
              <a:t>PostgreSQL is the most desired database, overtaking MySQL in popularity.</a:t>
            </a:r>
          </a:p>
          <a:p>
            <a:pPr lvl="1"/>
            <a:r>
              <a:rPr lang="en-US" sz="1600" dirty="0"/>
              <a:t>AWS and Microsoft Azure are the dominant platforms both currently and in future preference.</a:t>
            </a:r>
          </a:p>
          <a:p>
            <a:r>
              <a:rPr lang="en-US" sz="1600" dirty="0"/>
              <a:t>The 25-34 age group represents 41.3% of respondents, reflecting a young and growing developer workforce.</a:t>
            </a:r>
          </a:p>
          <a:p>
            <a:r>
              <a:rPr lang="en-US" sz="1600" dirty="0"/>
              <a:t>Data wrangling, EDA, and dashboards were completed using Python (pandas, matplotlib, seaborn) and IBM Cognos Analytics.</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solidFill>
                  <a:schemeClr val="bg1">
                    <a:lumMod val="75000"/>
                  </a:schemeClr>
                </a:solidFill>
              </a:rPr>
              <a:t>Purpose: To analyze the Stack Overflow Developer Survey and identify technology trends, future preferences, and developer demographics to support data-driven decision making.</a:t>
            </a:r>
            <a:endParaRPr lang="en-US" sz="2200" dirty="0">
              <a:solidFill>
                <a:schemeClr val="bg1">
                  <a:lumMod val="75000"/>
                </a:schemeClr>
              </a:solidFill>
            </a:endParaRPr>
          </a:p>
          <a:p>
            <a:r>
              <a:rPr lang="en-US" sz="2200" dirty="0">
                <a:solidFill>
                  <a:schemeClr val="tx1"/>
                </a:solidFill>
              </a:rPr>
              <a:t>The survey captures responses from over 65,000 developers worldwide, providing a comprehensive view of the global technology landscape.</a:t>
            </a:r>
          </a:p>
          <a:p>
            <a:r>
              <a:rPr lang="en-US" sz="2200" dirty="0">
                <a:solidFill>
                  <a:schemeClr val="tx1"/>
                </a:solidFill>
              </a:rPr>
              <a:t>Target Audience: Technology leaders, hiring managers, educators, and developers seeking insights into industry trends.</a:t>
            </a:r>
          </a:p>
          <a:p>
            <a:r>
              <a:rPr lang="en-US" sz="2200" dirty="0">
                <a:solidFill>
                  <a:schemeClr val="tx1"/>
                </a:solidFill>
              </a:rPr>
              <a:t>Value: Insights help organizations align technology investments, hiring strategies, and training programs with real-world developer preferences.</a:t>
            </a:r>
          </a:p>
          <a:p>
            <a:r>
              <a:rPr lang="en-US" sz="2200" dirty="0">
                <a:solidFill>
                  <a:schemeClr val="tx1"/>
                </a:solidFill>
              </a:rPr>
              <a:t>Data was collected via IBM Cloud-hosted CSV files and analyzed using Python, SQLite, and IBM Cognos Analytics.</a:t>
            </a:r>
          </a:p>
          <a:p>
            <a:pPr lvl="1"/>
            <a:r>
              <a:rPr lang="en-US" sz="1800" dirty="0">
                <a:solidFill>
                  <a:schemeClr val="tx1"/>
                </a:solidFill>
              </a:rPr>
              <a:t>Job postings data collected via GitHub Jobs API and stored in job-postings.xlsx.</a:t>
            </a:r>
          </a:p>
          <a:p>
            <a:pPr lvl="1"/>
            <a:r>
              <a:rPr lang="en-US" sz="1800" dirty="0">
                <a:solidFill>
                  <a:schemeClr val="tx1"/>
                </a:solidFill>
              </a:rPr>
              <a:t>Language salary data scraped from web sources and stored in popular-languages.csv.</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t>Data sources, Data collection &amp; Data wrangling steps</a:t>
            </a:r>
          </a:p>
          <a:p>
            <a:r>
              <a:rPr lang="en-US" sz="1800" dirty="0"/>
              <a:t>Data Source: Stack Overflow Developer Survey (2024) hosted on IBM Cloud Object Storage. Over 65,000 global respondents.</a:t>
            </a:r>
          </a:p>
          <a:p>
            <a:r>
              <a:rPr lang="en-US" sz="1800" dirty="0"/>
              <a:t>Web Scraping: Programming language popularity and salary data scraped using Python and saved to popular-languages.csv.</a:t>
            </a:r>
          </a:p>
          <a:p>
            <a:r>
              <a:rPr lang="en-US" sz="1800" dirty="0"/>
              <a:t>Data Wrangling: Removed duplicates, handled missing values via median imputation and row deletion, normalized compensation data, and encoded categorical variables.</a:t>
            </a:r>
          </a:p>
          <a:p>
            <a:r>
              <a:rPr lang="en-US" sz="1800" dirty="0"/>
              <a:t>Tools Used: Python (pandas, matplotlib, seaborn, sqlite3), Jupyter Notebooks, IBM Cognos Analytics. Final cleaned dataset saved as survey_cleaned.csv.</a:t>
            </a:r>
          </a:p>
          <a:p>
            <a:pPr lvl="1"/>
            <a:r>
              <a:rPr lang="en-US" sz="1800" dirty="0"/>
              <a:t>EDA performed to identify distributions, correlations, and outliers across all key variables.</a:t>
            </a:r>
          </a:p>
          <a:p>
            <a:pPr lvl="1"/>
            <a:r>
              <a:rPr lang="en-US" sz="1800" dirty="0"/>
              <a:t>Visualizations created across 10+ lab notebooks covering histograms, scatter plots, bubble plots, pie charts, stacked bars, and line charts.</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i="0" kern="1200">
                <a:latin typeface="IBM Plex Sans SemiBold" panose="020B0503050203000203" pitchFamily="34" charset="0"/>
                <a:ea typeface="IBM Plex Sans SemiBold" panose="020B0503050203000203" pitchFamily="34" charset="0"/>
                <a:cs typeface="IBM Plex Sans SemiBold" panose="020B0503050203000203" pitchFamily="34" charset="0"/>
              </a:rPr>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674915" y="2286000"/>
            <a:ext cx="5181600"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Top job titles by posting count from job-</a:t>
            </a:r>
            <a:r>
              <a:rPr lang="en-US" dirty="0" err="1"/>
              <a:t>postings.xlsx</a:t>
            </a:r>
            <a:r>
              <a:rPr lang="en-US" dirty="0"/>
              <a:t>. Python Developer, Data Engineer, and Java Developer roles lead in demand, ordered by descending number of postings.</a:t>
            </a:r>
          </a:p>
        </p:txBody>
      </p:sp>
      <p:pic>
        <p:nvPicPr>
          <p:cNvPr id="3" name="Picture 2">
            <a:extLst>
              <a:ext uri="{FF2B5EF4-FFF2-40B4-BE49-F238E27FC236}">
                <a16:creationId xmlns:a16="http://schemas.microsoft.com/office/drawing/2014/main" id="{66B1AB4B-AB11-F4A6-4463-DD0A370E8060}"/>
              </a:ext>
            </a:extLst>
          </p:cNvPr>
          <p:cNvPicPr>
            <a:picLocks noChangeAspect="1"/>
          </p:cNvPicPr>
          <p:nvPr/>
        </p:nvPicPr>
        <p:blipFill>
          <a:blip r:embed="rId3"/>
          <a:stretch>
            <a:fillRect/>
          </a:stretch>
        </p:blipFill>
        <p:spPr>
          <a:xfrm>
            <a:off x="6096000" y="2045435"/>
            <a:ext cx="5366657" cy="3112661"/>
          </a:xfrm>
          <a:prstGeom prst="rect">
            <a:avLst/>
          </a:prstGeom>
          <a:noFill/>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7798724" y="2527142"/>
            <a:ext cx="4393276" cy="286275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t>Average annual salaries by programming language from popular-languages.csv. Scala, Go, and Kotlin command the highest compensation. Data was collected via web scraping and ordered by descending average salary.</a:t>
            </a:r>
            <a:endParaRPr lang="en-US" sz="2200" dirty="0"/>
          </a:p>
        </p:txBody>
      </p:sp>
      <p:pic>
        <p:nvPicPr>
          <p:cNvPr id="3" name="Picture 2">
            <a:extLst>
              <a:ext uri="{FF2B5EF4-FFF2-40B4-BE49-F238E27FC236}">
                <a16:creationId xmlns:a16="http://schemas.microsoft.com/office/drawing/2014/main" id="{9555189B-63C8-A233-FFCB-4E5993C06335}"/>
              </a:ext>
            </a:extLst>
          </p:cNvPr>
          <p:cNvPicPr>
            <a:picLocks noChangeAspect="1"/>
          </p:cNvPicPr>
          <p:nvPr/>
        </p:nvPicPr>
        <p:blipFill>
          <a:blip r:embed="rId3"/>
          <a:stretch>
            <a:fillRect/>
          </a:stretch>
        </p:blipFill>
        <p:spPr>
          <a:xfrm>
            <a:off x="0" y="1708614"/>
            <a:ext cx="7772400" cy="4499810"/>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38200" y="5022849"/>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Top languages currently: JavaScript, HTML/CSS, Python, SQL, TypeScript, Bash/Shell, Java, C#, C++, PHP.</a:t>
            </a:r>
          </a:p>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240549" y="5022849"/>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Top languages wanted: Python, JavaScript, TypeScript, Rust, Go, HTML/CSS, SQL, Kotlin, Swift, C++.</a:t>
            </a:r>
          </a:p>
        </p:txBody>
      </p:sp>
      <p:sp>
        <p:nvSpPr>
          <p:cNvPr id="3" name="TextBox 2">
            <a:extLst>
              <a:ext uri="{FF2B5EF4-FFF2-40B4-BE49-F238E27FC236}">
                <a16:creationId xmlns:a16="http://schemas.microsoft.com/office/drawing/2014/main" id="{551C5862-9AB9-9679-23B5-A950E973AFB5}"/>
              </a:ext>
            </a:extLst>
          </p:cNvPr>
          <p:cNvSpPr txBox="1"/>
          <p:nvPr/>
        </p:nvSpPr>
        <p:spPr>
          <a:xfrm>
            <a:off x="838200" y="1690688"/>
            <a:ext cx="10429495" cy="461665"/>
          </a:xfrm>
          <a:prstGeom prst="rect">
            <a:avLst/>
          </a:prstGeom>
          <a:noFill/>
        </p:spPr>
        <p:txBody>
          <a:bodyPr wrap="square" rtlCol="0">
            <a:spAutoFit/>
          </a:bodyPr>
          <a:lstStyle/>
          <a:p>
            <a:r>
              <a:rPr lang="en-US" sz="2400" dirty="0"/>
              <a:t>Python surges as the #1 most desired language. Rust and Go show significant growth in demand. TypeScript continues to rise while PHP declines.</a:t>
            </a:r>
          </a:p>
        </p:txBody>
      </p:sp>
      <p:pic>
        <p:nvPicPr>
          <p:cNvPr id="13" name="Picture 12">
            <a:extLst>
              <a:ext uri="{FF2B5EF4-FFF2-40B4-BE49-F238E27FC236}">
                <a16:creationId xmlns:a16="http://schemas.microsoft.com/office/drawing/2014/main" id="{7BDD0AE1-1DFB-CD94-75A5-FA1E104B8F54}"/>
              </a:ext>
            </a:extLst>
          </p:cNvPr>
          <p:cNvPicPr>
            <a:picLocks noChangeAspect="1"/>
          </p:cNvPicPr>
          <p:nvPr/>
        </p:nvPicPr>
        <p:blipFill>
          <a:blip r:embed="rId3"/>
          <a:stretch>
            <a:fillRect/>
          </a:stretch>
        </p:blipFill>
        <p:spPr>
          <a:xfrm>
            <a:off x="6240549" y="2760406"/>
            <a:ext cx="4078514" cy="2170822"/>
          </a:xfrm>
          <a:prstGeom prst="rect">
            <a:avLst/>
          </a:prstGeom>
        </p:spPr>
      </p:pic>
      <p:pic>
        <p:nvPicPr>
          <p:cNvPr id="17" name="Picture 16">
            <a:extLst>
              <a:ext uri="{FF2B5EF4-FFF2-40B4-BE49-F238E27FC236}">
                <a16:creationId xmlns:a16="http://schemas.microsoft.com/office/drawing/2014/main" id="{0890D64E-34C6-D080-E259-EBB31A648878}"/>
              </a:ext>
            </a:extLst>
          </p:cNvPr>
          <p:cNvPicPr>
            <a:picLocks noChangeAspect="1"/>
          </p:cNvPicPr>
          <p:nvPr/>
        </p:nvPicPr>
        <p:blipFill>
          <a:blip r:embed="rId4"/>
          <a:stretch>
            <a:fillRect/>
          </a:stretch>
        </p:blipFill>
        <p:spPr>
          <a:xfrm>
            <a:off x="971550" y="2807926"/>
            <a:ext cx="4078514" cy="2214923"/>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noAutofit/>
          </a:bodyPr>
          <a:lstStyle/>
          <a:p>
            <a:pPr marL="0" indent="0">
              <a:buNone/>
            </a:pPr>
            <a:r>
              <a:rPr lang="en-US" sz="2200" dirty="0"/>
              <a:t>Findings</a:t>
            </a:r>
          </a:p>
          <a:p>
            <a:r>
              <a:rPr lang="en-US" sz="2200" dirty="0"/>
              <a:t>JavaScript remains the most used language but Python is now the most desired, reflecting the rise of data science and AI.</a:t>
            </a:r>
          </a:p>
          <a:p>
            <a:r>
              <a:rPr lang="en-US" sz="2200" dirty="0"/>
              <a:t>Rust and Go are rapidly gaining popularity as developers seek performance-focused and cloud-native languages.</a:t>
            </a:r>
          </a:p>
          <a:p>
            <a:r>
              <a:rPr lang="en-US" sz="2200" dirty="0"/>
              <a:t>TypeScript has overtaken plain JavaScript in desired usage, indicating a shift toward type-safe development.</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noAutofit/>
          </a:bodyPr>
          <a:lstStyle/>
          <a:p>
            <a:pPr marL="0" indent="0">
              <a:buNone/>
            </a:pPr>
            <a:r>
              <a:rPr lang="en-US" sz="2200" dirty="0"/>
              <a:t>Implications</a:t>
            </a:r>
          </a:p>
          <a:p>
            <a:r>
              <a:rPr lang="en-US" sz="2200" dirty="0"/>
              <a:t>Organizations should invest in Python training programs to meet growing developer demand and talent market expectations.</a:t>
            </a:r>
          </a:p>
          <a:p>
            <a:r>
              <a:rPr lang="en-US" sz="2200" dirty="0"/>
              <a:t>Rust and Go expertise will become increasingly valuable for systems programming and cloud-native application development.</a:t>
            </a:r>
          </a:p>
          <a:p>
            <a:r>
              <a:rPr lang="en-US" sz="2200" dirty="0"/>
              <a:t>TypeScript adoption should be encouraged in web development teams to improve code quality and maintainability.</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13816" y="5240872"/>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Current top databases: MySQL, PostgreSQL, SQLite, Microsoft SQL Server, MongoDB, Redis, MariaDB, Elasticsearch, Oracle, DynamoDB.</a:t>
            </a: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20384" y="5240872"/>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Desired databases: PostgreSQL, MongoDB, Redis, MySQL, SQLite, Elasticsearch, Firebase, Supabase, DynamoDB, Cassandra.</a:t>
            </a:r>
          </a:p>
        </p:txBody>
      </p:sp>
      <p:sp>
        <p:nvSpPr>
          <p:cNvPr id="7" name="TextBox 6">
            <a:extLst>
              <a:ext uri="{FF2B5EF4-FFF2-40B4-BE49-F238E27FC236}">
                <a16:creationId xmlns:a16="http://schemas.microsoft.com/office/drawing/2014/main" id="{917A0CDF-0FE0-1DE3-5B09-44D4318623B8}"/>
              </a:ext>
            </a:extLst>
          </p:cNvPr>
          <p:cNvSpPr txBox="1"/>
          <p:nvPr/>
        </p:nvSpPr>
        <p:spPr>
          <a:xfrm>
            <a:off x="813816" y="1792404"/>
            <a:ext cx="10429495" cy="461665"/>
          </a:xfrm>
          <a:prstGeom prst="rect">
            <a:avLst/>
          </a:prstGeom>
          <a:noFill/>
        </p:spPr>
        <p:txBody>
          <a:bodyPr wrap="square" rtlCol="0">
            <a:spAutoFit/>
          </a:bodyPr>
          <a:lstStyle/>
          <a:p>
            <a:r>
              <a:rPr lang="en-US" sz="2400" dirty="0"/>
              <a:t>PostgreSQL overtakes MySQL as the most desired database. NoSQL options like MongoDB and Redis are growing in preference. Cloud-native databases (Supabase, Firebase) are emerging strongly.</a:t>
            </a:r>
          </a:p>
        </p:txBody>
      </p:sp>
      <p:pic>
        <p:nvPicPr>
          <p:cNvPr id="13" name="Picture 12">
            <a:extLst>
              <a:ext uri="{FF2B5EF4-FFF2-40B4-BE49-F238E27FC236}">
                <a16:creationId xmlns:a16="http://schemas.microsoft.com/office/drawing/2014/main" id="{C3703392-8900-56F1-B345-4EE5FDD4C990}"/>
              </a:ext>
            </a:extLst>
          </p:cNvPr>
          <p:cNvPicPr>
            <a:picLocks noChangeAspect="1"/>
          </p:cNvPicPr>
          <p:nvPr/>
        </p:nvPicPr>
        <p:blipFill>
          <a:blip r:embed="rId3"/>
          <a:stretch>
            <a:fillRect/>
          </a:stretch>
        </p:blipFill>
        <p:spPr>
          <a:xfrm>
            <a:off x="813816" y="3057140"/>
            <a:ext cx="3975898" cy="2183732"/>
          </a:xfrm>
          <a:prstGeom prst="rect">
            <a:avLst/>
          </a:prstGeom>
        </p:spPr>
      </p:pic>
      <p:pic>
        <p:nvPicPr>
          <p:cNvPr id="15" name="Picture 14">
            <a:extLst>
              <a:ext uri="{FF2B5EF4-FFF2-40B4-BE49-F238E27FC236}">
                <a16:creationId xmlns:a16="http://schemas.microsoft.com/office/drawing/2014/main" id="{920F0ABD-4D7F-FF0C-0298-F98E768B2809}"/>
              </a:ext>
            </a:extLst>
          </p:cNvPr>
          <p:cNvPicPr>
            <a:picLocks noChangeAspect="1"/>
          </p:cNvPicPr>
          <p:nvPr/>
        </p:nvPicPr>
        <p:blipFill>
          <a:blip r:embed="rId4"/>
          <a:stretch>
            <a:fillRect/>
          </a:stretch>
        </p:blipFill>
        <p:spPr>
          <a:xfrm>
            <a:off x="6120383" y="3057140"/>
            <a:ext cx="4167427" cy="2183732"/>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noAutofit/>
          </a:bodyPr>
          <a:lstStyle/>
          <a:p>
            <a:pPr marL="0" indent="0">
              <a:buNone/>
            </a:pPr>
            <a:r>
              <a:rPr lang="en-US" sz="2200" dirty="0"/>
              <a:t>Findings</a:t>
            </a:r>
          </a:p>
          <a:p>
            <a:r>
              <a:rPr lang="en-US" sz="2200" dirty="0"/>
              <a:t>PostgreSQL has become the most desired database, surpassing MySQL for the first time, driven by its advanced features and open-source nature.</a:t>
            </a:r>
          </a:p>
          <a:p>
            <a:r>
              <a:rPr lang="en-US" sz="2200" dirty="0"/>
              <a:t>MongoDB and Redis continue to grow as developers increasingly adopt NoSQL solutions for scalability and performance.</a:t>
            </a:r>
          </a:p>
          <a:p>
            <a:r>
              <a:rPr lang="en-US" sz="2200" dirty="0"/>
              <a:t>Cloud-native databases like </a:t>
            </a:r>
            <a:r>
              <a:rPr lang="en-US" sz="2200" dirty="0" err="1"/>
              <a:t>Supabase</a:t>
            </a:r>
            <a:r>
              <a:rPr lang="en-US" sz="2200" dirty="0"/>
              <a:t> and Firebase are emerging as popular choices, reflecting the shift toward serverless architectures.</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noAutofit/>
          </a:bodyPr>
          <a:lstStyle/>
          <a:p>
            <a:pPr marL="0" indent="0">
              <a:buNone/>
            </a:pPr>
            <a:r>
              <a:rPr lang="en-US" sz="2200" dirty="0"/>
              <a:t>Implications</a:t>
            </a:r>
          </a:p>
          <a:p>
            <a:r>
              <a:rPr lang="en-US" sz="2200" dirty="0"/>
              <a:t>Teams should consider migrating legacy MySQL workloads to PostgreSQL to align with industry trends and take advantage of advanced SQL features.</a:t>
            </a:r>
          </a:p>
          <a:p>
            <a:r>
              <a:rPr lang="en-US" sz="2200" dirty="0"/>
              <a:t>Investing in MongoDB and Redis expertise will position engineering teams for high-performance, scalable application architectures.</a:t>
            </a:r>
          </a:p>
          <a:p>
            <a:r>
              <a:rPr lang="en-US" sz="2200" dirty="0"/>
              <a:t>Cloud-native database skills (Supabase, Firebase) should be incorporated into developer training roadmaps to prepare for serverless development trends.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DASHBOARD TAB 1: Current Technology Usage</a:t>
            </a:r>
          </a:p>
        </p:txBody>
      </p:sp>
      <p:pic>
        <p:nvPicPr>
          <p:cNvPr id="7" name="Picture 6">
            <a:extLst>
              <a:ext uri="{FF2B5EF4-FFF2-40B4-BE49-F238E27FC236}">
                <a16:creationId xmlns:a16="http://schemas.microsoft.com/office/drawing/2014/main" id="{0D0B3922-8F6B-CF84-E3EB-42519C105D82}"/>
              </a:ext>
            </a:extLst>
          </p:cNvPr>
          <p:cNvPicPr>
            <a:picLocks noChangeAspect="1"/>
          </p:cNvPicPr>
          <p:nvPr/>
        </p:nvPicPr>
        <p:blipFill>
          <a:blip r:embed="rId3"/>
          <a:stretch>
            <a:fillRect/>
          </a:stretch>
        </p:blipFill>
        <p:spPr>
          <a:xfrm>
            <a:off x="217715" y="2229939"/>
            <a:ext cx="5802086" cy="3307187"/>
          </a:xfrm>
          <a:prstGeom prst="rect">
            <a:avLst/>
          </a:prstGeom>
          <a:noFill/>
        </p:spPr>
      </p:pic>
      <p:sp>
        <p:nvSpPr>
          <p:cNvPr id="3" name="Content Placeholder 2">
            <a:extLst>
              <a:ext uri="{FF2B5EF4-FFF2-40B4-BE49-F238E27FC236}">
                <a16:creationId xmlns:a16="http://schemas.microsoft.com/office/drawing/2014/main" id="{B396FB03-F857-3EC0-249E-AE03F391502E}"/>
              </a:ext>
            </a:extLst>
          </p:cNvPr>
          <p:cNvSpPr>
            <a:spLocks noGrp="1"/>
          </p:cNvSpPr>
          <p:nvPr>
            <p:ph sz="half" idx="2"/>
          </p:nvPr>
        </p:nvSpPr>
        <p:spPr>
          <a:xfrm>
            <a:off x="6172200" y="1600200"/>
            <a:ext cx="5181600" cy="4572000"/>
          </a:xfrm>
        </p:spPr>
        <p:txBody>
          <a:bodyPr>
            <a:normAutofit/>
          </a:bodyPr>
          <a:lstStyle/>
          <a:p>
            <a:pPr marL="0" indent="0">
              <a:buNone/>
            </a:pPr>
            <a:endParaRPr lang="en-US" sz="2600"/>
          </a:p>
          <a:p>
            <a:r>
              <a:rPr lang="en-US" sz="2600"/>
              <a:t>JavaScript and HTML/CSS dominate current language usage. PostgreSQL and MySQL are the leading databases. AWS is the most widely used platform. React and Node.js lead web frameworks. The developer community shows strong adoption of open-source and cloud technologies.</a:t>
            </a:r>
          </a:p>
          <a:p>
            <a:pPr marL="0" indent="0">
              <a:buNone/>
            </a:pPr>
            <a:endParaRPr lang="en-US" sz="2600"/>
          </a:p>
        </p:txBody>
      </p:sp>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1" y="1690688"/>
            <a:ext cx="5257800" cy="4351338"/>
          </a:xfrm>
        </p:spPr>
        <p:txBody>
          <a:bodyPr>
            <a:normAutofit lnSpcReduction="10000"/>
          </a:bodyPr>
          <a:lstStyle/>
          <a:p>
            <a:pPr marL="0" indent="0">
              <a:buNone/>
            </a:pPr>
            <a:endParaRPr lang="en-US" dirty="0"/>
          </a:p>
          <a:p>
            <a:r>
              <a:rPr lang="en-US" dirty="0"/>
              <a:t>Python and Rust are the most desired languages for next year. PostgreSQL overtakes MySQL as the most wanted database. AWS and Microsoft Azure remain the top platforms developers want to work with. Next.js and FastAPI emerge as highly desired web frameworks.</a:t>
            </a:r>
          </a:p>
          <a:p>
            <a:pPr marL="0" indent="0">
              <a:buNone/>
            </a:pPr>
            <a:endParaRPr lang="en-US" dirty="0"/>
          </a:p>
        </p:txBody>
      </p:sp>
      <p:pic>
        <p:nvPicPr>
          <p:cNvPr id="4" name="Picture 3">
            <a:extLst>
              <a:ext uri="{FF2B5EF4-FFF2-40B4-BE49-F238E27FC236}">
                <a16:creationId xmlns:a16="http://schemas.microsoft.com/office/drawing/2014/main" id="{60F49A79-2972-B6F0-957C-FE76D18AB8BD}"/>
              </a:ext>
            </a:extLst>
          </p:cNvPr>
          <p:cNvPicPr>
            <a:picLocks noChangeAspect="1"/>
          </p:cNvPicPr>
          <p:nvPr/>
        </p:nvPicPr>
        <p:blipFill>
          <a:blip r:embed="rId3"/>
          <a:stretch>
            <a:fillRect/>
          </a:stretch>
        </p:blipFill>
        <p:spPr>
          <a:xfrm>
            <a:off x="6255327" y="2180563"/>
            <a:ext cx="5504845" cy="3371587"/>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dirty="0"/>
              <a:t>DASHBOARD TAB 3: Demographics</a:t>
            </a:r>
          </a:p>
        </p:txBody>
      </p:sp>
      <p:pic>
        <p:nvPicPr>
          <p:cNvPr id="5" name="Picture 4">
            <a:extLst>
              <a:ext uri="{FF2B5EF4-FFF2-40B4-BE49-F238E27FC236}">
                <a16:creationId xmlns:a16="http://schemas.microsoft.com/office/drawing/2014/main" id="{AC021891-E19C-6674-08C4-49508E80D5F5}"/>
              </a:ext>
            </a:extLst>
          </p:cNvPr>
          <p:cNvPicPr>
            <a:picLocks noChangeAspect="1"/>
          </p:cNvPicPr>
          <p:nvPr/>
        </p:nvPicPr>
        <p:blipFill>
          <a:blip r:embed="rId3"/>
          <a:stretch>
            <a:fillRect/>
          </a:stretch>
        </p:blipFill>
        <p:spPr>
          <a:xfrm>
            <a:off x="130630" y="2082642"/>
            <a:ext cx="5889171" cy="3607116"/>
          </a:xfrm>
          <a:prstGeom prst="rect">
            <a:avLst/>
          </a:prstGeom>
          <a:noFill/>
        </p:spPr>
      </p:pic>
      <p:sp>
        <p:nvSpPr>
          <p:cNvPr id="3" name="Content Placeholder 2">
            <a:extLst>
              <a:ext uri="{FF2B5EF4-FFF2-40B4-BE49-F238E27FC236}">
                <a16:creationId xmlns:a16="http://schemas.microsoft.com/office/drawing/2014/main" id="{84961A98-8DF3-E66E-19C4-7D7642551E90}"/>
              </a:ext>
            </a:extLst>
          </p:cNvPr>
          <p:cNvSpPr>
            <a:spLocks noGrp="1"/>
          </p:cNvSpPr>
          <p:nvPr>
            <p:ph sz="half" idx="2"/>
          </p:nvPr>
        </p:nvSpPr>
        <p:spPr>
          <a:xfrm>
            <a:off x="6172200" y="1600200"/>
            <a:ext cx="5181600" cy="4572000"/>
          </a:xfrm>
        </p:spPr>
        <p:txBody>
          <a:bodyPr>
            <a:normAutofit/>
          </a:bodyPr>
          <a:lstStyle/>
          <a:p>
            <a:pPr marL="0" indent="0">
              <a:buNone/>
            </a:pPr>
            <a:endParaRPr lang="en-US" sz="2600" dirty="0"/>
          </a:p>
          <a:p>
            <a:pPr marL="0" indent="0">
              <a:buNone/>
            </a:pPr>
            <a:r>
              <a:rPr lang="en-IN" sz="2600" dirty="0"/>
              <a:t>The 25-34 age group represents 41.3% of all respondents, making it the dominant demographic. The US, India, and Germany have the highest respondent counts. Bachelor's degree holders make up the largest education group (8,629 respondents), followed by Master's degree holders (5,000). Compensation increases with age, peaking in the 55-64 group.</a:t>
            </a:r>
            <a:endParaRPr lang="en-US" sz="2600" dirty="0"/>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081155" y="1825625"/>
            <a:ext cx="6272645" cy="4351338"/>
          </a:xfrm>
        </p:spPr>
        <p:txBody>
          <a:bodyPr>
            <a:normAutofit fontScale="77500" lnSpcReduction="20000"/>
          </a:bodyPr>
          <a:lstStyle/>
          <a:p>
            <a:r>
              <a:rPr lang="en-US" dirty="0"/>
              <a:t>The three dashboards collectively reveal a technology ecosystem in rapid transition. The developer workforce is skewing younger and more globally distributed, with the 25-34 cohort dominating. Python's rise to the top desired language reflects the mainstreaming of AI and data science across all industries. Cloud platforms (AWS, Azure) have become table stakes, while emerging tools like Rust, Go, and PostgreSQL signal where the next generation of infrastructure is headed. The strong preference for open-source technologies across all three tabs suggests that cost, flexibility, and community support are primary drivers of technology adoption decisions.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fontScale="70000" lnSpcReduction="20000"/>
          </a:bodyPr>
          <a:lstStyle/>
          <a:p>
            <a:pPr marL="0" indent="0">
              <a:buNone/>
            </a:pPr>
            <a:r>
              <a:rPr lang="en-US" dirty="0"/>
              <a:t>Findings</a:t>
            </a:r>
          </a:p>
          <a:p>
            <a:pPr marL="0" indent="0">
              <a:buNone/>
            </a:pPr>
            <a:endParaRPr lang="en-US" sz="2900" dirty="0"/>
          </a:p>
          <a:p>
            <a:r>
              <a:rPr lang="en-US" sz="2900" dirty="0"/>
              <a:t>Python has emerged as the single most desired programming language, overtaking JavaScript for the first time, driven by AI, ML, and data science adoption.</a:t>
            </a:r>
          </a:p>
          <a:p>
            <a:r>
              <a:rPr lang="en-US" sz="2900" dirty="0"/>
              <a:t>The global developer community is predominantly young (25-34), highly educated (bachelor's degree+), and geographically concentrated in the US, India, and Germany.</a:t>
            </a:r>
          </a:p>
          <a:p>
            <a:r>
              <a:rPr lang="en-US" sz="2900" dirty="0"/>
              <a:t>Open-source technologies (PostgreSQL, Linux, AWS) dominate both current usage and future preferences, confirming a strong industry shift away from proprietary platforms.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fontScale="70000" lnSpcReduction="20000"/>
          </a:bodyPr>
          <a:lstStyle/>
          <a:p>
            <a:pPr marL="0" indent="0">
              <a:buNone/>
            </a:pPr>
            <a:r>
              <a:rPr lang="en-US" dirty="0"/>
              <a:t>Implications</a:t>
            </a:r>
          </a:p>
          <a:p>
            <a:pPr marL="0" indent="0">
              <a:buNone/>
            </a:pPr>
            <a:endParaRPr lang="en-US" dirty="0"/>
          </a:p>
          <a:p>
            <a:r>
              <a:rPr lang="en-US" dirty="0"/>
              <a:t>Educational institutions and bootcamps should prioritize Python, cloud platforms, and data skills in their curricula to align with market demand.</a:t>
            </a:r>
          </a:p>
          <a:p>
            <a:r>
              <a:rPr lang="en-US" dirty="0"/>
              <a:t>Employers targeting the largest developer talent pool should focus recruiting efforts on the 25-34 demographic and geographies with high developer density.</a:t>
            </a:r>
          </a:p>
          <a:p>
            <a:r>
              <a:rPr lang="en-US" dirty="0"/>
              <a:t>Technology vendors should invest in open-source ecosystems and cloud-native integrations, as developers overwhelmingly prefer open, flexible toolchains over proprietary alternatives.</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600" dirty="0"/>
              <a:t>The Stack Overflow Developer Survey analysis confirms that Python, PostgreSQL, and cloud platforms (AWS, Azure) represent the core technology stack of the modern developer, both today and in the near future.</a:t>
            </a:r>
          </a:p>
          <a:p>
            <a:r>
              <a:rPr lang="en-US" sz="1600" dirty="0"/>
              <a:t>Emerging technologies like Rust, Go, and </a:t>
            </a:r>
            <a:r>
              <a:rPr lang="en-US" sz="1600" dirty="0" err="1"/>
              <a:t>Supabase</a:t>
            </a:r>
            <a:r>
              <a:rPr lang="en-US" sz="1600" dirty="0"/>
              <a:t> are gaining significant traction, indicating that performance, safety, and developer experience will be the key drivers of adoption in coming years.</a:t>
            </a:r>
          </a:p>
          <a:p>
            <a:r>
              <a:rPr lang="en-US" sz="1600" dirty="0"/>
              <a:t>The demographic data highlights a need for diversity initiatives, as the developer community remains predominantly young, male, and concentrated in a small number of countries despite being globally distributed.</a:t>
            </a:r>
          </a:p>
          <a:p>
            <a:r>
              <a:rPr lang="en-US" sz="1600" dirty="0"/>
              <a:t>This capstone project demonstrates a complete data analysis lifecycle: from data collection (API, web scraping) through wrangling, EDA, visualization, and dashboard creation — delivering actionable insights from raw survey data.</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Additional analyses completed during this capstone include: Histogram distributions of </a:t>
            </a:r>
            <a:r>
              <a:rPr lang="en-US" sz="2200" dirty="0" err="1"/>
              <a:t>CompTotal</a:t>
            </a:r>
            <a:r>
              <a:rPr lang="en-US" sz="2200" dirty="0"/>
              <a:t> and </a:t>
            </a:r>
            <a:r>
              <a:rPr lang="en-US" sz="2200" dirty="0" err="1"/>
              <a:t>YearsCodePro</a:t>
            </a:r>
            <a:r>
              <a:rPr lang="en-US" sz="2200" dirty="0"/>
              <a:t> (Labs 17-18), Box plot comparisons of compensation by age group and employment type (Lab 18), Scatter and bubble plots exploring Age vs. </a:t>
            </a:r>
            <a:r>
              <a:rPr lang="en-US" sz="2200" dirty="0" err="1"/>
              <a:t>WorkExp</a:t>
            </a:r>
            <a:r>
              <a:rPr lang="en-US" sz="2200" dirty="0"/>
              <a:t> and Compensation vs. Job Satisfaction (Labs 19-20), Stacked bar charts of Job Satisfaction by Age Group and Employment Type (Lab 22), Line charts of median compensation trends across experience levels (Lab 23), Pie charts of top databases, platforms, and collaboration tools (Lab 21). All visualizations were created using Python (matplotlib, seaborn) and IBM Cognos Analytics. Source data: Stack Overflow Developer Survey 2024, IBM Cloud Object Storage.</a:t>
            </a:r>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92</TotalTime>
  <Words>1641</Words>
  <Application>Microsoft Macintosh PowerPoint</Application>
  <PresentationFormat>Widescreen</PresentationFormat>
  <Paragraphs>97</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Helv</vt:lpstr>
      <vt:lpstr>IBM Plex Mono</vt:lpstr>
      <vt:lpstr>IBM Plex Mono Medium</vt:lpstr>
      <vt:lpstr>IBM Plex Sans</vt:lpstr>
      <vt:lpstr>IBM Plex Sans SemiBold</vt:lpstr>
      <vt:lpstr>SLIDE_TEMPLATE_skill_network</vt:lpstr>
      <vt:lpstr>Data Analyst Capstone Project Report </vt:lpstr>
      <vt:lpstr>PowerPoint Presentation</vt:lpstr>
      <vt:lpstr>EXECUTIVE SUMMARY</vt:lpstr>
      <vt:lpstr>INTRODUCTION</vt:lpstr>
      <vt:lpstr>METHODOLOGY</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Ailabouni, Joe</cp:lastModifiedBy>
  <cp:revision>13</cp:revision>
  <dcterms:created xsi:type="dcterms:W3CDTF">2024-10-30T05:40:03Z</dcterms:created>
  <dcterms:modified xsi:type="dcterms:W3CDTF">2026-09-04T21:18:41Z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